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Play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D53650-36EF-4817-BCBE-1E9D29DC49A3}">
  <a:tblStyle styleId="{F7D53650-36EF-4817-BCBE-1E9D29DC49A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Play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d1d15036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ed1d15036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ed1d15036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d1d15036b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ed1d15036b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d1d15036b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ed1d15036b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d1d15036b_0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ed1d15036b_0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d1d15036b_0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ed1d15036b_0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d1d15036b_0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ed1d15036b_0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d1d15036b_0_1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ed1d15036b_0_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d1d15036b_0_1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ed1d15036b_0_1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d1d15036b_0_1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ed1d15036b_0_1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d1d15036b_0_1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ed1d15036b_0_1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d1d15036b_0_1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ed1d15036b_0_1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d1d15036b_0_4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ed1d15036b_0_4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d1d15036b_0_2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ed1d15036b_0_2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ed1d15036b_0_2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1">
  <p:cSld name="Пустой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сновной с цветным фоном">
  <p:cSld name="Основной с цветным фоном">
    <p:bg>
      <p:bgPr>
        <a:solidFill>
          <a:schemeClr val="accen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/>
        </p:nvSpPr>
        <p:spPr>
          <a:xfrm>
            <a:off x="8649686" y="4865772"/>
            <a:ext cx="178200" cy="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4"/>
          <p:cNvSpPr txBox="1"/>
          <p:nvPr>
            <p:ph idx="11" type="ftr"/>
          </p:nvPr>
        </p:nvSpPr>
        <p:spPr>
          <a:xfrm>
            <a:off x="316132" y="4798882"/>
            <a:ext cx="7560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4"/>
          <p:cNvSpPr txBox="1"/>
          <p:nvPr>
            <p:ph type="title"/>
          </p:nvPr>
        </p:nvSpPr>
        <p:spPr>
          <a:xfrm flipH="1">
            <a:off x="316268" y="273758"/>
            <a:ext cx="8511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510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/>
        </p:nvSpPr>
        <p:spPr>
          <a:xfrm flipH="1">
            <a:off x="179955" y="178161"/>
            <a:ext cx="8511000" cy="16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Play"/>
              <a:buNone/>
            </a:pPr>
            <a:r>
              <a:rPr lang="ru" sz="4400">
                <a:solidFill>
                  <a:schemeClr val="lt1"/>
                </a:solidFill>
                <a:highlight>
                  <a:srgbClr val="FF5101"/>
                </a:highlight>
              </a:rPr>
              <a:t>Мультиагентная система автоматического анализа научных статей</a:t>
            </a:r>
            <a:endParaRPr b="0" i="0" sz="9600" u="none" cap="none" strike="noStrike">
              <a:solidFill>
                <a:schemeClr val="lt1"/>
              </a:solidFill>
              <a:highlight>
                <a:srgbClr val="FF510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5"/>
          <p:cNvSpPr txBox="1"/>
          <p:nvPr/>
        </p:nvSpPr>
        <p:spPr>
          <a:xfrm flipH="1">
            <a:off x="179955" y="2457128"/>
            <a:ext cx="8511000" cy="16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lang="ru" sz="4500">
                <a:solidFill>
                  <a:srgbClr val="FFFFFF"/>
                </a:solidFill>
              </a:rPr>
              <a:t>Киррил Степовой</a:t>
            </a:r>
            <a:endParaRPr sz="45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lang="ru" sz="4500">
                <a:solidFill>
                  <a:srgbClr val="FFFFFF"/>
                </a:solidFill>
              </a:rPr>
              <a:t>Тугов Денис</a:t>
            </a:r>
            <a:endParaRPr sz="4500">
              <a:solidFill>
                <a:srgbClr val="FFFFFF"/>
              </a:solidFill>
            </a:endParaRPr>
          </a:p>
        </p:txBody>
      </p:sp>
      <p:cxnSp>
        <p:nvCxnSpPr>
          <p:cNvPr id="62" name="Google Shape;62;p15"/>
          <p:cNvCxnSpPr/>
          <p:nvPr/>
        </p:nvCxnSpPr>
        <p:spPr>
          <a:xfrm>
            <a:off x="170562" y="4255467"/>
            <a:ext cx="3395923" cy="0"/>
          </a:xfrm>
          <a:prstGeom prst="straightConnector1">
            <a:avLst/>
          </a:prstGeom>
          <a:noFill/>
          <a:ln cap="flat" cmpd="sng" w="428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" name="Google Shape;63;p15"/>
          <p:cNvCxnSpPr/>
          <p:nvPr/>
        </p:nvCxnSpPr>
        <p:spPr>
          <a:xfrm>
            <a:off x="3171342" y="4255467"/>
            <a:ext cx="1373100" cy="3000"/>
          </a:xfrm>
          <a:prstGeom prst="straightConnector1">
            <a:avLst/>
          </a:prstGeom>
          <a:noFill/>
          <a:ln cap="flat" cmpd="sng" w="428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" name="Google Shape;64;p15"/>
          <p:cNvCxnSpPr/>
          <p:nvPr/>
        </p:nvCxnSpPr>
        <p:spPr>
          <a:xfrm>
            <a:off x="4622553" y="4357525"/>
            <a:ext cx="0" cy="638700"/>
          </a:xfrm>
          <a:prstGeom prst="straightConnector1">
            <a:avLst/>
          </a:prstGeom>
          <a:noFill/>
          <a:ln cap="flat" cmpd="sng" w="428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" name="Google Shape;65;p15"/>
          <p:cNvCxnSpPr/>
          <p:nvPr/>
        </p:nvCxnSpPr>
        <p:spPr>
          <a:xfrm flipH="1" rot="10800000">
            <a:off x="4690025" y="4255325"/>
            <a:ext cx="4283400" cy="16500"/>
          </a:xfrm>
          <a:prstGeom prst="straightConnector1">
            <a:avLst/>
          </a:prstGeom>
          <a:noFill/>
          <a:ln cap="flat" cmpd="sng" w="428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" name="Google Shape;66;p15"/>
          <p:cNvSpPr txBox="1"/>
          <p:nvPr/>
        </p:nvSpPr>
        <p:spPr>
          <a:xfrm>
            <a:off x="316525" y="4422150"/>
            <a:ext cx="398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35000"/>
              </a:lnSpc>
              <a:spcBef>
                <a:spcPts val="1000"/>
              </a:spcBef>
              <a:spcAft>
                <a:spcPts val="200"/>
              </a:spcAft>
              <a:buNone/>
            </a:pPr>
            <a:r>
              <a:rPr lang="ru" sz="1100">
                <a:solidFill>
                  <a:schemeClr val="lt1"/>
                </a:solidFill>
                <a:highlight>
                  <a:srgbClr val="FF5101"/>
                </a:highlight>
              </a:rPr>
              <a:t>Поиск · Парсинг · LLM-оценка · Генерация обзор</a:t>
            </a:r>
            <a:r>
              <a:rPr lang="ru" sz="1100">
                <a:solidFill>
                  <a:schemeClr val="lt1"/>
                </a:solidFill>
                <a:highlight>
                  <a:srgbClr val="FF5101"/>
                </a:highlight>
              </a:rPr>
              <a:t>а</a:t>
            </a:r>
            <a:endParaRPr sz="1900">
              <a:solidFill>
                <a:schemeClr val="lt1"/>
              </a:solidFill>
              <a:highlight>
                <a:srgbClr val="FF5101"/>
              </a:highlight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4467675" y="4501450"/>
            <a:ext cx="44265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35000"/>
              </a:lnSpc>
              <a:spcBef>
                <a:spcPts val="1000"/>
              </a:spcBef>
              <a:spcAft>
                <a:spcPts val="200"/>
              </a:spcAft>
              <a:buNone/>
            </a:pPr>
            <a:r>
              <a:rPr lang="ru" sz="1000">
                <a:solidFill>
                  <a:schemeClr val="lt1"/>
                </a:solidFill>
                <a:highlight>
                  <a:srgbClr val="FF5101"/>
                </a:highlight>
              </a:rPr>
              <a:t>Stack: Python · FastAPI · LangGraph · React 19 · Docker</a:t>
            </a:r>
            <a:endParaRPr sz="1800">
              <a:solidFill>
                <a:schemeClr val="lt1"/>
              </a:solidFill>
              <a:highlight>
                <a:srgbClr val="FF510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437419" y="1337792"/>
            <a:ext cx="1699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ru" sz="1900">
                <a:solidFill>
                  <a:schemeClr val="dk1"/>
                </a:solidFill>
              </a:rPr>
              <a:t>Проблематика</a:t>
            </a:r>
            <a:endParaRPr sz="1100"/>
          </a:p>
        </p:txBody>
      </p:sp>
      <p:sp>
        <p:nvSpPr>
          <p:cNvPr id="73" name="Google Shape;73;p16"/>
          <p:cNvSpPr txBox="1"/>
          <p:nvPr/>
        </p:nvSpPr>
        <p:spPr>
          <a:xfrm>
            <a:off x="437426" y="3176600"/>
            <a:ext cx="18114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ru" sz="1900">
                <a:solidFill>
                  <a:schemeClr val="dk1"/>
                </a:solidFill>
              </a:rPr>
              <a:t>Агенты и роли</a:t>
            </a:r>
            <a:r>
              <a:rPr b="0" i="0" lang="ru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ru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2557137" y="1337792"/>
            <a:ext cx="19317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ru" sz="1900">
                <a:solidFill>
                  <a:schemeClr val="dk1"/>
                </a:solidFill>
              </a:rPr>
              <a:t>Архитектура</a:t>
            </a:r>
            <a:endParaRPr sz="1100"/>
          </a:p>
        </p:txBody>
      </p:sp>
      <p:sp>
        <p:nvSpPr>
          <p:cNvPr id="75" name="Google Shape;75;p16"/>
          <p:cNvSpPr txBox="1"/>
          <p:nvPr/>
        </p:nvSpPr>
        <p:spPr>
          <a:xfrm>
            <a:off x="4844865" y="1337792"/>
            <a:ext cx="15072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ru" sz="1900">
                <a:solidFill>
                  <a:schemeClr val="dk1"/>
                </a:solidFill>
              </a:rPr>
              <a:t>Backend</a:t>
            </a:r>
            <a:endParaRPr sz="1100"/>
          </a:p>
        </p:txBody>
      </p:sp>
      <p:cxnSp>
        <p:nvCxnSpPr>
          <p:cNvPr id="76" name="Google Shape;76;p16"/>
          <p:cNvCxnSpPr/>
          <p:nvPr/>
        </p:nvCxnSpPr>
        <p:spPr>
          <a:xfrm>
            <a:off x="2408005" y="1295996"/>
            <a:ext cx="0" cy="1641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" name="Google Shape;77;p16"/>
          <p:cNvCxnSpPr/>
          <p:nvPr/>
        </p:nvCxnSpPr>
        <p:spPr>
          <a:xfrm>
            <a:off x="2408005" y="3087924"/>
            <a:ext cx="0" cy="1641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8" name="Google Shape;78;p16"/>
          <p:cNvCxnSpPr/>
          <p:nvPr/>
        </p:nvCxnSpPr>
        <p:spPr>
          <a:xfrm>
            <a:off x="4576018" y="1295996"/>
            <a:ext cx="0" cy="1641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9" name="Google Shape;79;p16"/>
          <p:cNvCxnSpPr/>
          <p:nvPr/>
        </p:nvCxnSpPr>
        <p:spPr>
          <a:xfrm>
            <a:off x="4576018" y="3087924"/>
            <a:ext cx="0" cy="1641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" name="Google Shape;80;p16"/>
          <p:cNvCxnSpPr/>
          <p:nvPr/>
        </p:nvCxnSpPr>
        <p:spPr>
          <a:xfrm>
            <a:off x="6732970" y="1295996"/>
            <a:ext cx="0" cy="1641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" name="Google Shape;81;p16"/>
          <p:cNvCxnSpPr/>
          <p:nvPr/>
        </p:nvCxnSpPr>
        <p:spPr>
          <a:xfrm>
            <a:off x="6732970" y="3087924"/>
            <a:ext cx="0" cy="1641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" name="Google Shape;82;p16"/>
          <p:cNvCxnSpPr/>
          <p:nvPr/>
        </p:nvCxnSpPr>
        <p:spPr>
          <a:xfrm rot="10800000">
            <a:off x="2478279" y="3016809"/>
            <a:ext cx="202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" name="Google Shape;83;p16"/>
          <p:cNvCxnSpPr/>
          <p:nvPr/>
        </p:nvCxnSpPr>
        <p:spPr>
          <a:xfrm rot="10800000">
            <a:off x="315797" y="3016809"/>
            <a:ext cx="202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" name="Google Shape;84;p16"/>
          <p:cNvCxnSpPr/>
          <p:nvPr/>
        </p:nvCxnSpPr>
        <p:spPr>
          <a:xfrm rot="10800000">
            <a:off x="6803244" y="3016809"/>
            <a:ext cx="202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" name="Google Shape;85;p16"/>
          <p:cNvCxnSpPr/>
          <p:nvPr/>
        </p:nvCxnSpPr>
        <p:spPr>
          <a:xfrm rot="10800000">
            <a:off x="4640762" y="3016809"/>
            <a:ext cx="202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6" name="Google Shape;86;p16"/>
          <p:cNvSpPr/>
          <p:nvPr/>
        </p:nvSpPr>
        <p:spPr>
          <a:xfrm>
            <a:off x="437419" y="2688971"/>
            <a:ext cx="243000" cy="243000"/>
          </a:xfrm>
          <a:prstGeom prst="rect">
            <a:avLst/>
          </a:prstGeom>
          <a:solidFill>
            <a:srgbClr val="FF5101"/>
          </a:solidFill>
          <a:ln>
            <a:noFill/>
          </a:ln>
        </p:spPr>
        <p:txBody>
          <a:bodyPr anchorCtr="0" anchor="ctr" bIns="81000" lIns="33750" spcFirstLastPara="1" rIns="33750" wrap="square" tIns="945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87" name="Google Shape;87;p16"/>
          <p:cNvSpPr/>
          <p:nvPr/>
        </p:nvSpPr>
        <p:spPr>
          <a:xfrm>
            <a:off x="2557137" y="2688971"/>
            <a:ext cx="243000" cy="243000"/>
          </a:xfrm>
          <a:prstGeom prst="rect">
            <a:avLst/>
          </a:prstGeom>
          <a:solidFill>
            <a:srgbClr val="FF5101"/>
          </a:solidFill>
          <a:ln>
            <a:noFill/>
          </a:ln>
        </p:spPr>
        <p:txBody>
          <a:bodyPr anchorCtr="0" anchor="ctr" bIns="81000" lIns="33750" spcFirstLastPara="1" rIns="33750" wrap="square" tIns="945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4747667" y="2694867"/>
            <a:ext cx="243000" cy="243000"/>
          </a:xfrm>
          <a:prstGeom prst="rect">
            <a:avLst/>
          </a:prstGeom>
          <a:solidFill>
            <a:srgbClr val="FF5101"/>
          </a:solidFill>
          <a:ln>
            <a:noFill/>
          </a:ln>
        </p:spPr>
        <p:txBody>
          <a:bodyPr anchorCtr="0" anchor="ctr" bIns="81000" lIns="33750" spcFirstLastPara="1" rIns="33750" wrap="square" tIns="945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6958211" y="2681421"/>
            <a:ext cx="243000" cy="250800"/>
          </a:xfrm>
          <a:prstGeom prst="rect">
            <a:avLst/>
          </a:prstGeom>
          <a:solidFill>
            <a:srgbClr val="FF5101"/>
          </a:solidFill>
          <a:ln>
            <a:noFill/>
          </a:ln>
        </p:spPr>
        <p:txBody>
          <a:bodyPr anchorCtr="0" anchor="ctr" bIns="81000" lIns="33750" spcFirstLastPara="1" rIns="33750" wrap="square" tIns="945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437419" y="4499326"/>
            <a:ext cx="243000" cy="243000"/>
          </a:xfrm>
          <a:prstGeom prst="rect">
            <a:avLst/>
          </a:prstGeom>
          <a:solidFill>
            <a:srgbClr val="FF5101"/>
          </a:solidFill>
          <a:ln>
            <a:noFill/>
          </a:ln>
        </p:spPr>
        <p:txBody>
          <a:bodyPr anchorCtr="0" anchor="ctr" bIns="81000" lIns="33750" spcFirstLastPara="1" rIns="33750" wrap="square" tIns="945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6958211" y="1354784"/>
            <a:ext cx="1931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1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300">
                <a:solidFill>
                  <a:schemeClr val="dk1"/>
                </a:solidFill>
              </a:rPr>
              <a:t>GraphMAS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/>
        </p:nvSpPr>
        <p:spPr>
          <a:xfrm>
            <a:off x="437426" y="3176600"/>
            <a:ext cx="16311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900"/>
              <a:buFont typeface="Arial"/>
              <a:buNone/>
            </a:pPr>
            <a:r>
              <a:rPr lang="ru" sz="1900">
                <a:solidFill>
                  <a:srgbClr val="A5A5A5"/>
                </a:solidFill>
              </a:rPr>
              <a:t>Агенты и роли</a:t>
            </a:r>
            <a:endParaRPr b="0" i="0" sz="1900" u="none" cap="none" strike="noStrik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2627517" y="1337792"/>
            <a:ext cx="19317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900"/>
              <a:buFont typeface="Arial"/>
              <a:buNone/>
            </a:pPr>
            <a:r>
              <a:rPr lang="ru" sz="1900">
                <a:solidFill>
                  <a:srgbClr val="A5A5A5"/>
                </a:solidFill>
              </a:rPr>
              <a:t>Архитектура</a:t>
            </a:r>
            <a:endParaRPr sz="1100"/>
          </a:p>
        </p:txBody>
      </p:sp>
      <p:sp>
        <p:nvSpPr>
          <p:cNvPr id="98" name="Google Shape;98;p17"/>
          <p:cNvSpPr txBox="1"/>
          <p:nvPr/>
        </p:nvSpPr>
        <p:spPr>
          <a:xfrm>
            <a:off x="6899452" y="1339271"/>
            <a:ext cx="1931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1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300">
                <a:solidFill>
                  <a:srgbClr val="BBBEBF"/>
                </a:solidFill>
              </a:rPr>
              <a:t>GraphMAS</a:t>
            </a:r>
            <a:endParaRPr sz="1900">
              <a:solidFill>
                <a:srgbClr val="A5A5A5"/>
              </a:solidFill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4844865" y="1346318"/>
            <a:ext cx="15072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900"/>
              <a:buFont typeface="Arial"/>
              <a:buNone/>
            </a:pPr>
            <a:r>
              <a:rPr lang="ru" sz="1900">
                <a:solidFill>
                  <a:srgbClr val="A5A5A5"/>
                </a:solidFill>
              </a:rPr>
              <a:t>Backend</a:t>
            </a:r>
            <a:endParaRPr sz="1100"/>
          </a:p>
        </p:txBody>
      </p:sp>
      <p:cxnSp>
        <p:nvCxnSpPr>
          <p:cNvPr id="100" name="Google Shape;100;p17"/>
          <p:cNvCxnSpPr/>
          <p:nvPr/>
        </p:nvCxnSpPr>
        <p:spPr>
          <a:xfrm>
            <a:off x="2408005" y="3087924"/>
            <a:ext cx="0" cy="164190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" name="Google Shape;101;p17"/>
          <p:cNvCxnSpPr/>
          <p:nvPr/>
        </p:nvCxnSpPr>
        <p:spPr>
          <a:xfrm>
            <a:off x="4576018" y="1295996"/>
            <a:ext cx="0" cy="164190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" name="Google Shape;102;p17"/>
          <p:cNvCxnSpPr/>
          <p:nvPr/>
        </p:nvCxnSpPr>
        <p:spPr>
          <a:xfrm>
            <a:off x="4576018" y="3087924"/>
            <a:ext cx="0" cy="164190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" name="Google Shape;103;p17"/>
          <p:cNvCxnSpPr/>
          <p:nvPr/>
        </p:nvCxnSpPr>
        <p:spPr>
          <a:xfrm>
            <a:off x="6732970" y="1295996"/>
            <a:ext cx="0" cy="164190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" name="Google Shape;104;p17"/>
          <p:cNvCxnSpPr/>
          <p:nvPr/>
        </p:nvCxnSpPr>
        <p:spPr>
          <a:xfrm>
            <a:off x="6732970" y="3087924"/>
            <a:ext cx="0" cy="164190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" name="Google Shape;105;p17"/>
          <p:cNvCxnSpPr/>
          <p:nvPr/>
        </p:nvCxnSpPr>
        <p:spPr>
          <a:xfrm rot="10800000">
            <a:off x="2478279" y="3016809"/>
            <a:ext cx="2028900" cy="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6" name="Google Shape;106;p17"/>
          <p:cNvCxnSpPr/>
          <p:nvPr/>
        </p:nvCxnSpPr>
        <p:spPr>
          <a:xfrm rot="10800000">
            <a:off x="6803244" y="3016809"/>
            <a:ext cx="2028900" cy="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" name="Google Shape;107;p17"/>
          <p:cNvCxnSpPr/>
          <p:nvPr/>
        </p:nvCxnSpPr>
        <p:spPr>
          <a:xfrm rot="10800000">
            <a:off x="4640762" y="3016809"/>
            <a:ext cx="2028900" cy="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8" name="Google Shape;108;p17"/>
          <p:cNvSpPr/>
          <p:nvPr/>
        </p:nvSpPr>
        <p:spPr>
          <a:xfrm>
            <a:off x="297974" y="1097177"/>
            <a:ext cx="2087700" cy="1895700"/>
          </a:xfrm>
          <a:prstGeom prst="rect">
            <a:avLst/>
          </a:prstGeom>
          <a:solidFill>
            <a:srgbClr val="FF5101"/>
          </a:solidFill>
          <a:ln>
            <a:noFill/>
          </a:ln>
        </p:spPr>
        <p:txBody>
          <a:bodyPr anchorCtr="0" anchor="ctr" bIns="81000" lIns="33750" spcFirstLastPara="1" rIns="33750" wrap="square" tIns="945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437419" y="1337792"/>
            <a:ext cx="1699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rPr lang="ru" sz="1900">
                <a:solidFill>
                  <a:schemeClr val="lt1"/>
                </a:solidFill>
              </a:rPr>
              <a:t>Проблематика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/>
          <p:nvPr/>
        </p:nvSpPr>
        <p:spPr>
          <a:xfrm>
            <a:off x="320488" y="283813"/>
            <a:ext cx="8510700" cy="719400"/>
          </a:xfrm>
          <a:prstGeom prst="roundRect">
            <a:avLst>
              <a:gd fmla="val 0" name="adj"/>
            </a:avLst>
          </a:prstGeom>
          <a:solidFill>
            <a:srgbClr val="FF510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476293" y="377828"/>
            <a:ext cx="5795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" sz="3300">
                <a:solidFill>
                  <a:schemeClr val="lt1"/>
                </a:solidFill>
              </a:rPr>
              <a:t>Проблематика</a:t>
            </a:r>
            <a:endParaRPr b="0" i="0" sz="3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320494" y="1135153"/>
            <a:ext cx="225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</a:rPr>
              <a:t>Как это происходит сейчас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6473569" y="1633125"/>
            <a:ext cx="2416200" cy="589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Автоматический анализ статей</a:t>
            </a:r>
            <a:endParaRPr sz="1300"/>
          </a:p>
        </p:txBody>
      </p:sp>
      <p:sp>
        <p:nvSpPr>
          <p:cNvPr id="118" name="Google Shape;118;p18"/>
          <p:cNvSpPr/>
          <p:nvPr/>
        </p:nvSpPr>
        <p:spPr>
          <a:xfrm>
            <a:off x="6473569" y="2404050"/>
            <a:ext cx="2416200" cy="589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ru" sz="1000">
                <a:solidFill>
                  <a:schemeClr val="dk1"/>
                </a:solidFill>
              </a:rPr>
              <a:t>Структурированный обзор любой статьи</a:t>
            </a:r>
            <a:endParaRPr sz="1300"/>
          </a:p>
        </p:txBody>
      </p:sp>
      <p:sp>
        <p:nvSpPr>
          <p:cNvPr id="119" name="Google Shape;119;p18"/>
          <p:cNvSpPr/>
          <p:nvPr/>
        </p:nvSpPr>
        <p:spPr>
          <a:xfrm>
            <a:off x="6473569" y="3174975"/>
            <a:ext cx="2416200" cy="589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ru" sz="1000">
                <a:solidFill>
                  <a:schemeClr val="dk1"/>
                </a:solidFill>
              </a:rPr>
              <a:t>Объективная оценка</a:t>
            </a:r>
            <a:endParaRPr sz="1300"/>
          </a:p>
        </p:txBody>
      </p:sp>
      <p:sp>
        <p:nvSpPr>
          <p:cNvPr id="120" name="Google Shape;120;p18"/>
          <p:cNvSpPr txBox="1"/>
          <p:nvPr/>
        </p:nvSpPr>
        <p:spPr>
          <a:xfrm>
            <a:off x="6334950" y="1162322"/>
            <a:ext cx="225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</a:rPr>
              <a:t>Что мы предлагаем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320494" y="1730588"/>
            <a:ext cx="2416200" cy="589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Чтение одной статьи - 1-3 часа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320494" y="2450438"/>
            <a:ext cx="2416200" cy="589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На arXiv ~15 000 статей в месяц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320494" y="3170288"/>
            <a:ext cx="2416200" cy="589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Ручная оценка субъективна</a:t>
            </a:r>
            <a:endParaRPr sz="1100"/>
          </a:p>
        </p:txBody>
      </p:sp>
      <p:sp>
        <p:nvSpPr>
          <p:cNvPr id="124" name="Google Shape;124;p18"/>
          <p:cNvSpPr/>
          <p:nvPr/>
        </p:nvSpPr>
        <p:spPr>
          <a:xfrm>
            <a:off x="3479200" y="2030400"/>
            <a:ext cx="2328900" cy="13365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5101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/>
          <p:nvPr/>
        </p:nvSpPr>
        <p:spPr>
          <a:xfrm>
            <a:off x="2419664" y="1097177"/>
            <a:ext cx="2087700" cy="1895700"/>
          </a:xfrm>
          <a:prstGeom prst="rect">
            <a:avLst/>
          </a:prstGeom>
          <a:solidFill>
            <a:srgbClr val="FF5101"/>
          </a:solidFill>
          <a:ln>
            <a:noFill/>
          </a:ln>
        </p:spPr>
        <p:txBody>
          <a:bodyPr anchorCtr="0" anchor="ctr" bIns="81000" lIns="33750" spcFirstLastPara="1" rIns="33750" wrap="square" tIns="945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437426" y="3176600"/>
            <a:ext cx="1726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900"/>
              <a:buFont typeface="Arial"/>
              <a:buNone/>
            </a:pPr>
            <a:r>
              <a:rPr lang="ru" sz="1900">
                <a:solidFill>
                  <a:srgbClr val="A5A5A5"/>
                </a:solidFill>
              </a:rPr>
              <a:t>Агенты и роли</a:t>
            </a:r>
            <a:r>
              <a:rPr b="0" i="0" lang="ru" sz="19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900" u="none" cap="none" strike="noStrik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2640289" y="1337792"/>
            <a:ext cx="19317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rPr lang="ru" sz="1900">
                <a:solidFill>
                  <a:schemeClr val="lt1"/>
                </a:solidFill>
              </a:rPr>
              <a:t>Архитектура</a:t>
            </a:r>
            <a:endParaRPr sz="1100"/>
          </a:p>
        </p:txBody>
      </p:sp>
      <p:sp>
        <p:nvSpPr>
          <p:cNvPr id="132" name="Google Shape;132;p19"/>
          <p:cNvSpPr txBox="1"/>
          <p:nvPr/>
        </p:nvSpPr>
        <p:spPr>
          <a:xfrm>
            <a:off x="6899452" y="1337792"/>
            <a:ext cx="1931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1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300">
                <a:solidFill>
                  <a:srgbClr val="BBBEBF"/>
                </a:solidFill>
              </a:rPr>
              <a:t>GraphMAS</a:t>
            </a:r>
            <a:endParaRPr sz="1900">
              <a:solidFill>
                <a:srgbClr val="A5A5A5"/>
              </a:solidFill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4844865" y="1337792"/>
            <a:ext cx="15072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900"/>
              <a:buFont typeface="Arial"/>
              <a:buNone/>
            </a:pPr>
            <a:r>
              <a:rPr lang="ru" sz="1900">
                <a:solidFill>
                  <a:srgbClr val="A5A5A5"/>
                </a:solidFill>
              </a:rPr>
              <a:t>Backend</a:t>
            </a:r>
            <a:endParaRPr sz="1100"/>
          </a:p>
        </p:txBody>
      </p:sp>
      <p:cxnSp>
        <p:nvCxnSpPr>
          <p:cNvPr id="134" name="Google Shape;134;p19"/>
          <p:cNvCxnSpPr/>
          <p:nvPr/>
        </p:nvCxnSpPr>
        <p:spPr>
          <a:xfrm>
            <a:off x="2408005" y="3087924"/>
            <a:ext cx="0" cy="164190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" name="Google Shape;135;p19"/>
          <p:cNvCxnSpPr/>
          <p:nvPr/>
        </p:nvCxnSpPr>
        <p:spPr>
          <a:xfrm>
            <a:off x="4576018" y="3087924"/>
            <a:ext cx="0" cy="164190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" name="Google Shape;136;p19"/>
          <p:cNvCxnSpPr/>
          <p:nvPr/>
        </p:nvCxnSpPr>
        <p:spPr>
          <a:xfrm>
            <a:off x="6732970" y="1295996"/>
            <a:ext cx="0" cy="164190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19"/>
          <p:cNvCxnSpPr/>
          <p:nvPr/>
        </p:nvCxnSpPr>
        <p:spPr>
          <a:xfrm>
            <a:off x="6732970" y="3087924"/>
            <a:ext cx="0" cy="164190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" name="Google Shape;138;p19"/>
          <p:cNvCxnSpPr/>
          <p:nvPr/>
        </p:nvCxnSpPr>
        <p:spPr>
          <a:xfrm rot="10800000">
            <a:off x="6803244" y="3016809"/>
            <a:ext cx="2028900" cy="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9" name="Google Shape;139;p19"/>
          <p:cNvCxnSpPr/>
          <p:nvPr/>
        </p:nvCxnSpPr>
        <p:spPr>
          <a:xfrm rot="10800000">
            <a:off x="4640762" y="3016809"/>
            <a:ext cx="2028900" cy="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0" name="Google Shape;140;p19"/>
          <p:cNvSpPr txBox="1"/>
          <p:nvPr/>
        </p:nvSpPr>
        <p:spPr>
          <a:xfrm>
            <a:off x="437419" y="1337792"/>
            <a:ext cx="1699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900"/>
              <a:buFont typeface="Arial"/>
              <a:buNone/>
            </a:pPr>
            <a:r>
              <a:rPr lang="ru" sz="1900">
                <a:solidFill>
                  <a:srgbClr val="A5A5A5"/>
                </a:solidFill>
              </a:rPr>
              <a:t>Проблематика</a:t>
            </a:r>
            <a:endParaRPr sz="1100"/>
          </a:p>
        </p:txBody>
      </p:sp>
      <p:cxnSp>
        <p:nvCxnSpPr>
          <p:cNvPr id="141" name="Google Shape;141;p19"/>
          <p:cNvCxnSpPr/>
          <p:nvPr/>
        </p:nvCxnSpPr>
        <p:spPr>
          <a:xfrm rot="10800000">
            <a:off x="283294" y="3016809"/>
            <a:ext cx="2028900" cy="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/>
          <p:nvPr/>
        </p:nvSpPr>
        <p:spPr>
          <a:xfrm>
            <a:off x="320488" y="283813"/>
            <a:ext cx="8510700" cy="719400"/>
          </a:xfrm>
          <a:prstGeom prst="roundRect">
            <a:avLst>
              <a:gd fmla="val 0" name="adj"/>
            </a:avLst>
          </a:prstGeom>
          <a:solidFill>
            <a:srgbClr val="FF510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0"/>
          <p:cNvSpPr txBox="1"/>
          <p:nvPr/>
        </p:nvSpPr>
        <p:spPr>
          <a:xfrm>
            <a:off x="476293" y="377828"/>
            <a:ext cx="5795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" sz="3300">
                <a:solidFill>
                  <a:schemeClr val="lt1"/>
                </a:solidFill>
              </a:rPr>
              <a:t>Архитектура</a:t>
            </a:r>
            <a:endParaRPr b="0" i="0" sz="3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0125" y="1168838"/>
            <a:ext cx="4894131" cy="3835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/>
          <p:nvPr/>
        </p:nvSpPr>
        <p:spPr>
          <a:xfrm>
            <a:off x="4611515" y="1121125"/>
            <a:ext cx="2087700" cy="1895700"/>
          </a:xfrm>
          <a:prstGeom prst="rect">
            <a:avLst/>
          </a:prstGeom>
          <a:solidFill>
            <a:srgbClr val="FF5101"/>
          </a:solidFill>
          <a:ln>
            <a:noFill/>
          </a:ln>
        </p:spPr>
        <p:txBody>
          <a:bodyPr anchorCtr="0" anchor="ctr" bIns="81000" lIns="33750" spcFirstLastPara="1" rIns="33750" wrap="square" tIns="945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476301" y="3176600"/>
            <a:ext cx="1699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900"/>
              <a:buFont typeface="Arial"/>
              <a:buNone/>
            </a:pPr>
            <a:r>
              <a:rPr lang="ru" sz="1900">
                <a:solidFill>
                  <a:srgbClr val="A5A5A5"/>
                </a:solidFill>
              </a:rPr>
              <a:t>Агенты и роли</a:t>
            </a:r>
            <a:endParaRPr b="0" i="0" sz="1900" u="none" cap="none" strike="noStrik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1"/>
          <p:cNvSpPr txBox="1"/>
          <p:nvPr/>
        </p:nvSpPr>
        <p:spPr>
          <a:xfrm>
            <a:off x="2557137" y="1337792"/>
            <a:ext cx="19317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900"/>
              <a:buFont typeface="Arial"/>
              <a:buNone/>
            </a:pPr>
            <a:r>
              <a:rPr lang="ru" sz="1900">
                <a:solidFill>
                  <a:srgbClr val="A5A5A5"/>
                </a:solidFill>
              </a:rPr>
              <a:t>Архитектура</a:t>
            </a:r>
            <a:endParaRPr sz="1100"/>
          </a:p>
        </p:txBody>
      </p:sp>
      <p:sp>
        <p:nvSpPr>
          <p:cNvPr id="156" name="Google Shape;156;p21"/>
          <p:cNvSpPr txBox="1"/>
          <p:nvPr/>
        </p:nvSpPr>
        <p:spPr>
          <a:xfrm>
            <a:off x="6970827" y="1295995"/>
            <a:ext cx="1931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1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300">
                <a:solidFill>
                  <a:srgbClr val="BBBEBF"/>
                </a:solidFill>
              </a:rPr>
              <a:t>GraphMAS</a:t>
            </a:r>
            <a:endParaRPr sz="1900">
              <a:solidFill>
                <a:srgbClr val="A5A5A5"/>
              </a:solidFill>
            </a:endParaRPr>
          </a:p>
        </p:txBody>
      </p:sp>
      <p:sp>
        <p:nvSpPr>
          <p:cNvPr id="157" name="Google Shape;157;p21"/>
          <p:cNvSpPr txBox="1"/>
          <p:nvPr/>
        </p:nvSpPr>
        <p:spPr>
          <a:xfrm>
            <a:off x="4844865" y="1338388"/>
            <a:ext cx="15072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rPr lang="ru" sz="1900">
                <a:solidFill>
                  <a:schemeClr val="lt1"/>
                </a:solidFill>
              </a:rPr>
              <a:t>Backend</a:t>
            </a:r>
            <a:endParaRPr sz="1100"/>
          </a:p>
        </p:txBody>
      </p:sp>
      <p:cxnSp>
        <p:nvCxnSpPr>
          <p:cNvPr id="158" name="Google Shape;158;p21"/>
          <p:cNvCxnSpPr/>
          <p:nvPr/>
        </p:nvCxnSpPr>
        <p:spPr>
          <a:xfrm>
            <a:off x="2408005" y="3087924"/>
            <a:ext cx="0" cy="164190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9" name="Google Shape;159;p21"/>
          <p:cNvCxnSpPr/>
          <p:nvPr/>
        </p:nvCxnSpPr>
        <p:spPr>
          <a:xfrm>
            <a:off x="4576018" y="3087924"/>
            <a:ext cx="0" cy="164190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0" name="Google Shape;160;p21"/>
          <p:cNvCxnSpPr/>
          <p:nvPr/>
        </p:nvCxnSpPr>
        <p:spPr>
          <a:xfrm>
            <a:off x="2408005" y="1295996"/>
            <a:ext cx="0" cy="164190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1" name="Google Shape;161;p21"/>
          <p:cNvCxnSpPr/>
          <p:nvPr/>
        </p:nvCxnSpPr>
        <p:spPr>
          <a:xfrm>
            <a:off x="6732970" y="3087924"/>
            <a:ext cx="0" cy="164190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2" name="Google Shape;162;p21"/>
          <p:cNvCxnSpPr/>
          <p:nvPr/>
        </p:nvCxnSpPr>
        <p:spPr>
          <a:xfrm rot="10800000">
            <a:off x="6803244" y="3016809"/>
            <a:ext cx="2028900" cy="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3" name="Google Shape;163;p21"/>
          <p:cNvCxnSpPr/>
          <p:nvPr/>
        </p:nvCxnSpPr>
        <p:spPr>
          <a:xfrm rot="10800000">
            <a:off x="2469428" y="3016809"/>
            <a:ext cx="2028900" cy="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4" name="Google Shape;164;p21"/>
          <p:cNvSpPr txBox="1"/>
          <p:nvPr/>
        </p:nvSpPr>
        <p:spPr>
          <a:xfrm>
            <a:off x="437419" y="1337792"/>
            <a:ext cx="1699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900"/>
              <a:buFont typeface="Arial"/>
              <a:buNone/>
            </a:pPr>
            <a:r>
              <a:rPr lang="ru" sz="1900">
                <a:solidFill>
                  <a:srgbClr val="A5A5A5"/>
                </a:solidFill>
              </a:rPr>
              <a:t>Проблематика</a:t>
            </a:r>
            <a:endParaRPr sz="1100"/>
          </a:p>
        </p:txBody>
      </p:sp>
      <p:cxnSp>
        <p:nvCxnSpPr>
          <p:cNvPr id="165" name="Google Shape;165;p21"/>
          <p:cNvCxnSpPr/>
          <p:nvPr/>
        </p:nvCxnSpPr>
        <p:spPr>
          <a:xfrm rot="10800000">
            <a:off x="274868" y="3016809"/>
            <a:ext cx="2028900" cy="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/>
          <p:nvPr/>
        </p:nvSpPr>
        <p:spPr>
          <a:xfrm>
            <a:off x="320488" y="283813"/>
            <a:ext cx="8510700" cy="719400"/>
          </a:xfrm>
          <a:prstGeom prst="roundRect">
            <a:avLst>
              <a:gd fmla="val 0" name="adj"/>
            </a:avLst>
          </a:prstGeom>
          <a:solidFill>
            <a:srgbClr val="FF510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476303" y="377825"/>
            <a:ext cx="819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" sz="3300">
                <a:solidFill>
                  <a:schemeClr val="lt1"/>
                </a:solidFill>
                <a:highlight>
                  <a:srgbClr val="FF5101"/>
                </a:highlight>
              </a:rPr>
              <a:t>Backend: Domain-Driven Design</a:t>
            </a:r>
            <a:endParaRPr b="0" i="0" sz="3300" u="none" cap="none" strike="noStrike">
              <a:solidFill>
                <a:schemeClr val="lt1"/>
              </a:solidFill>
              <a:highlight>
                <a:srgbClr val="FF510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2" name="Google Shape;172;p22"/>
          <p:cNvGraphicFramePr/>
          <p:nvPr/>
        </p:nvGraphicFramePr>
        <p:xfrm>
          <a:off x="716000" y="142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{F7D53650-36EF-4817-BCBE-1E9D29DC49A3}</a:tableStyleId>
              </a:tblPr>
              <a:tblGrid>
                <a:gridCol w="1095375"/>
                <a:gridCol w="3667125"/>
                <a:gridCol w="2686050"/>
              </a:tblGrid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00">
                          <a:solidFill>
                            <a:schemeClr val="lt1"/>
                          </a:solidFill>
                        </a:rPr>
                        <a:t>Слой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51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00">
                          <a:solidFill>
                            <a:schemeClr val="lt1"/>
                          </a:solidFill>
                        </a:rPr>
                        <a:t>Содержимое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51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00">
                          <a:solidFill>
                            <a:schemeClr val="lt1"/>
                          </a:solidFill>
                        </a:rPr>
                        <a:t>Принцип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5101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Domain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8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Article</a:t>
                      </a:r>
                      <a:r>
                        <a:rPr lang="ru" sz="100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ru" sz="8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Evaluation</a:t>
                      </a:r>
                      <a:r>
                        <a:rPr lang="ru" sz="100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ru" sz="8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Review</a:t>
                      </a:r>
                      <a:r>
                        <a:rPr lang="ru" sz="1000">
                          <a:solidFill>
                            <a:schemeClr val="dk1"/>
                          </a:solidFill>
                        </a:rPr>
                        <a:t>, абстрактные репозитории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 знает о FastAPI и LangGraph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Application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Use cases, DTO, </a:t>
                      </a:r>
                      <a:r>
                        <a:rPr lang="ru" sz="8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OrchestrationService</a:t>
                      </a:r>
                      <a:endParaRPr sz="8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Оркестрирует домен и инфраструктуру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Infrastructure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In-memory репозитории, настройки, arXiv-клиент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Технические детали изолированы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Presentation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FastAPI роутеры, Pydantic-схемы, error middleware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Только HTTP-адаптация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/>
          <p:nvPr/>
        </p:nvSpPr>
        <p:spPr>
          <a:xfrm>
            <a:off x="320488" y="283813"/>
            <a:ext cx="8510700" cy="719400"/>
          </a:xfrm>
          <a:prstGeom prst="roundRect">
            <a:avLst>
              <a:gd fmla="val 0" name="adj"/>
            </a:avLst>
          </a:prstGeom>
          <a:solidFill>
            <a:srgbClr val="FF510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3"/>
          <p:cNvSpPr txBox="1"/>
          <p:nvPr/>
        </p:nvSpPr>
        <p:spPr>
          <a:xfrm>
            <a:off x="476294" y="377828"/>
            <a:ext cx="5585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" sz="33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Лайт прайс</a:t>
            </a:r>
            <a:endParaRPr b="0" i="0" sz="33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79" name="Google Shape;179;p23"/>
          <p:cNvSpPr txBox="1"/>
          <p:nvPr/>
        </p:nvSpPr>
        <p:spPr>
          <a:xfrm>
            <a:off x="2557137" y="1337792"/>
            <a:ext cx="19317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Гипотезы</a:t>
            </a:r>
            <a:endParaRPr sz="1100"/>
          </a:p>
        </p:txBody>
      </p:sp>
      <p:sp>
        <p:nvSpPr>
          <p:cNvPr id="180" name="Google Shape;180;p23"/>
          <p:cNvSpPr txBox="1"/>
          <p:nvPr/>
        </p:nvSpPr>
        <p:spPr>
          <a:xfrm>
            <a:off x="476294" y="3171127"/>
            <a:ext cx="19317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900"/>
              <a:buFont typeface="Arial"/>
              <a:buNone/>
            </a:pPr>
            <a:r>
              <a:rPr lang="ru" sz="1900">
                <a:solidFill>
                  <a:srgbClr val="A5A5A5"/>
                </a:solidFill>
              </a:rPr>
              <a:t>Агенты и роли</a:t>
            </a:r>
            <a:endParaRPr sz="1100"/>
          </a:p>
        </p:txBody>
      </p:sp>
      <p:sp>
        <p:nvSpPr>
          <p:cNvPr id="181" name="Google Shape;181;p23"/>
          <p:cNvSpPr txBox="1"/>
          <p:nvPr/>
        </p:nvSpPr>
        <p:spPr>
          <a:xfrm>
            <a:off x="4844865" y="1320731"/>
            <a:ext cx="15072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Решение</a:t>
            </a:r>
            <a:endParaRPr sz="1100"/>
          </a:p>
        </p:txBody>
      </p:sp>
      <p:cxnSp>
        <p:nvCxnSpPr>
          <p:cNvPr id="182" name="Google Shape;182;p23"/>
          <p:cNvCxnSpPr/>
          <p:nvPr/>
        </p:nvCxnSpPr>
        <p:spPr>
          <a:xfrm>
            <a:off x="6714298" y="1320731"/>
            <a:ext cx="0" cy="164190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3" name="Google Shape;183;p23"/>
          <p:cNvCxnSpPr/>
          <p:nvPr/>
        </p:nvCxnSpPr>
        <p:spPr>
          <a:xfrm>
            <a:off x="2408005" y="1295996"/>
            <a:ext cx="0" cy="164190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4" name="Google Shape;184;p23"/>
          <p:cNvCxnSpPr/>
          <p:nvPr/>
        </p:nvCxnSpPr>
        <p:spPr>
          <a:xfrm>
            <a:off x="6732970" y="3087924"/>
            <a:ext cx="0" cy="164190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5" name="Google Shape;185;p23"/>
          <p:cNvCxnSpPr/>
          <p:nvPr/>
        </p:nvCxnSpPr>
        <p:spPr>
          <a:xfrm rot="10800000">
            <a:off x="4583871" y="3016809"/>
            <a:ext cx="2028900" cy="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6" name="Google Shape;18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1437" y="439722"/>
            <a:ext cx="2377014" cy="420827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3"/>
          <p:cNvSpPr txBox="1"/>
          <p:nvPr/>
        </p:nvSpPr>
        <p:spPr>
          <a:xfrm>
            <a:off x="437419" y="1337792"/>
            <a:ext cx="1699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Контекст</a:t>
            </a:r>
            <a:endParaRPr sz="1100"/>
          </a:p>
        </p:txBody>
      </p:sp>
      <p:cxnSp>
        <p:nvCxnSpPr>
          <p:cNvPr id="188" name="Google Shape;188;p23"/>
          <p:cNvCxnSpPr/>
          <p:nvPr/>
        </p:nvCxnSpPr>
        <p:spPr>
          <a:xfrm>
            <a:off x="4549811" y="1295996"/>
            <a:ext cx="0" cy="164190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9" name="Google Shape;189;p23"/>
          <p:cNvCxnSpPr/>
          <p:nvPr/>
        </p:nvCxnSpPr>
        <p:spPr>
          <a:xfrm rot="10800000">
            <a:off x="6831185" y="3016809"/>
            <a:ext cx="2028900" cy="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0" name="Google Shape;190;p23"/>
          <p:cNvCxnSpPr/>
          <p:nvPr/>
        </p:nvCxnSpPr>
        <p:spPr>
          <a:xfrm rot="10800000">
            <a:off x="289708" y="3016809"/>
            <a:ext cx="2028900" cy="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1" name="Google Shape;191;p23"/>
          <p:cNvSpPr/>
          <p:nvPr/>
        </p:nvSpPr>
        <p:spPr>
          <a:xfrm>
            <a:off x="6707930" y="1097737"/>
            <a:ext cx="2087700" cy="1895700"/>
          </a:xfrm>
          <a:prstGeom prst="rect">
            <a:avLst/>
          </a:prstGeom>
          <a:solidFill>
            <a:srgbClr val="FF5101"/>
          </a:solidFill>
          <a:ln>
            <a:noFill/>
          </a:ln>
        </p:spPr>
        <p:txBody>
          <a:bodyPr anchorCtr="0" anchor="ctr" bIns="81000" lIns="33750" spcFirstLastPara="1" rIns="33750" wrap="square" tIns="945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3"/>
          <p:cNvSpPr txBox="1"/>
          <p:nvPr/>
        </p:nvSpPr>
        <p:spPr>
          <a:xfrm>
            <a:off x="6863637" y="1280982"/>
            <a:ext cx="1507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1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300">
                <a:solidFill>
                  <a:schemeClr val="lt1"/>
                </a:solidFill>
              </a:rPr>
              <a:t>GraphMAS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193" name="Google Shape;193;p23"/>
          <p:cNvCxnSpPr/>
          <p:nvPr/>
        </p:nvCxnSpPr>
        <p:spPr>
          <a:xfrm>
            <a:off x="2408005" y="3136027"/>
            <a:ext cx="0" cy="164190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4" name="Google Shape;194;p23"/>
          <p:cNvCxnSpPr/>
          <p:nvPr/>
        </p:nvCxnSpPr>
        <p:spPr>
          <a:xfrm>
            <a:off x="4558876" y="3058886"/>
            <a:ext cx="0" cy="164190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5" name="Google Shape;195;p23"/>
          <p:cNvCxnSpPr/>
          <p:nvPr/>
        </p:nvCxnSpPr>
        <p:spPr>
          <a:xfrm rot="10800000">
            <a:off x="2407934" y="3016809"/>
            <a:ext cx="2028900" cy="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/>
          <p:nvPr/>
        </p:nvSpPr>
        <p:spPr>
          <a:xfrm>
            <a:off x="320488" y="283813"/>
            <a:ext cx="8510700" cy="719400"/>
          </a:xfrm>
          <a:prstGeom prst="roundRect">
            <a:avLst>
              <a:gd fmla="val 0" name="adj"/>
            </a:avLst>
          </a:prstGeom>
          <a:solidFill>
            <a:srgbClr val="FF510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4"/>
          <p:cNvSpPr txBox="1"/>
          <p:nvPr/>
        </p:nvSpPr>
        <p:spPr>
          <a:xfrm>
            <a:off x="470668" y="466528"/>
            <a:ext cx="5795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1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300">
                <a:solidFill>
                  <a:schemeClr val="lt1"/>
                </a:solidFill>
              </a:rPr>
              <a:t>GraphMAS</a:t>
            </a:r>
            <a:endParaRPr sz="3300">
              <a:solidFill>
                <a:schemeClr val="lt1"/>
              </a:solidFill>
            </a:endParaRPr>
          </a:p>
        </p:txBody>
      </p:sp>
      <p:pic>
        <p:nvPicPr>
          <p:cNvPr id="202" name="Google Shape;20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55613"/>
            <a:ext cx="8839204" cy="3418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/>
          <p:nvPr/>
        </p:nvSpPr>
        <p:spPr>
          <a:xfrm>
            <a:off x="320488" y="283813"/>
            <a:ext cx="8510700" cy="719400"/>
          </a:xfrm>
          <a:prstGeom prst="roundRect">
            <a:avLst>
              <a:gd fmla="val 0" name="adj"/>
            </a:avLst>
          </a:prstGeom>
          <a:solidFill>
            <a:srgbClr val="FF510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5"/>
          <p:cNvSpPr txBox="1"/>
          <p:nvPr/>
        </p:nvSpPr>
        <p:spPr>
          <a:xfrm>
            <a:off x="476293" y="377828"/>
            <a:ext cx="5795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" sz="3300">
                <a:solidFill>
                  <a:schemeClr val="lt1"/>
                </a:solidFill>
              </a:rPr>
              <a:t>Агенты и роли</a:t>
            </a:r>
            <a:endParaRPr b="0" i="0" sz="3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5"/>
          <p:cNvSpPr/>
          <p:nvPr/>
        </p:nvSpPr>
        <p:spPr>
          <a:xfrm>
            <a:off x="2529100" y="1249812"/>
            <a:ext cx="2148300" cy="524100"/>
          </a:xfrm>
          <a:prstGeom prst="roundRect">
            <a:avLst>
              <a:gd fmla="val 16667" name="adj"/>
            </a:avLst>
          </a:prstGeom>
          <a:solidFill>
            <a:srgbClr val="FF5101"/>
          </a:solidFill>
          <a:ln>
            <a:noFill/>
          </a:ln>
        </p:spPr>
        <p:txBody>
          <a:bodyPr anchorCtr="0" anchor="ctr" bIns="103650" lIns="103650" spcFirstLastPara="1" rIns="103650" wrap="square" tIns="10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467">
                <a:solidFill>
                  <a:schemeClr val="lt1"/>
                </a:solidFill>
              </a:rPr>
              <a:t>CoordinatorAgent</a:t>
            </a:r>
            <a:endParaRPr sz="1920">
              <a:solidFill>
                <a:schemeClr val="lt1"/>
              </a:solidFill>
            </a:endParaRPr>
          </a:p>
        </p:txBody>
      </p:sp>
      <p:sp>
        <p:nvSpPr>
          <p:cNvPr id="210" name="Google Shape;210;p25"/>
          <p:cNvSpPr/>
          <p:nvPr/>
        </p:nvSpPr>
        <p:spPr>
          <a:xfrm>
            <a:off x="2529100" y="1844385"/>
            <a:ext cx="2148300" cy="1214100"/>
          </a:xfrm>
          <a:prstGeom prst="roundRect">
            <a:avLst>
              <a:gd fmla="val 16667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103650" lIns="103650" spcFirstLastPara="1" rIns="103650" wrap="square" tIns="103650">
            <a:noAutofit/>
          </a:bodyPr>
          <a:lstStyle/>
          <a:p>
            <a:pPr indent="-315353" lvl="0" marL="518403" rtl="0" algn="l">
              <a:lnSpc>
                <a:spcPct val="100000"/>
              </a:lnSpc>
              <a:spcBef>
                <a:spcPts val="1701"/>
              </a:spcBef>
              <a:spcAft>
                <a:spcPts val="0"/>
              </a:spcAft>
              <a:buClr>
                <a:schemeClr val="dk1"/>
              </a:buClr>
              <a:buSzPts val="884"/>
              <a:buChar char="●"/>
            </a:pPr>
            <a:r>
              <a:rPr lang="ru" sz="884">
                <a:solidFill>
                  <a:schemeClr val="dk1"/>
                </a:solidFill>
              </a:rPr>
              <a:t>Поиск статей на arXiv</a:t>
            </a:r>
            <a:endParaRPr sz="884">
              <a:solidFill>
                <a:schemeClr val="dk1"/>
              </a:solidFill>
            </a:endParaRPr>
          </a:p>
          <a:p>
            <a:pPr indent="-315353" lvl="0" marL="51840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4"/>
              <a:buChar char="●"/>
            </a:pPr>
            <a:r>
              <a:rPr lang="ru" sz="884">
                <a:solidFill>
                  <a:schemeClr val="dk1"/>
                </a:solidFill>
              </a:rPr>
              <a:t>Скачивание PDF и LaTeX-исходников</a:t>
            </a:r>
            <a:endParaRPr sz="884">
              <a:solidFill>
                <a:schemeClr val="dk1"/>
              </a:solidFill>
            </a:endParaRPr>
          </a:p>
          <a:p>
            <a:pPr indent="-315353" lvl="0" marL="51840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4"/>
              <a:buChar char="●"/>
            </a:pPr>
            <a:r>
              <a:rPr lang="ru" sz="884">
                <a:solidFill>
                  <a:schemeClr val="dk1"/>
                </a:solidFill>
              </a:rPr>
              <a:t>Делегирование через теги</a:t>
            </a:r>
            <a:endParaRPr sz="884">
              <a:solidFill>
                <a:schemeClr val="dk1"/>
              </a:solidFill>
            </a:endParaRPr>
          </a:p>
          <a:p>
            <a:pPr indent="-315353" lvl="0" marL="51840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4"/>
              <a:buChar char="●"/>
            </a:pPr>
            <a:r>
              <a:rPr lang="ru" sz="884">
                <a:solidFill>
                  <a:schemeClr val="dk1"/>
                </a:solidFill>
              </a:rPr>
              <a:t>Лимит: 25 tool calls</a:t>
            </a:r>
            <a:endParaRPr sz="884">
              <a:solidFill>
                <a:schemeClr val="dk1"/>
              </a:solidFill>
            </a:endParaRPr>
          </a:p>
        </p:txBody>
      </p:sp>
      <p:sp>
        <p:nvSpPr>
          <p:cNvPr id="211" name="Google Shape;211;p25"/>
          <p:cNvSpPr/>
          <p:nvPr/>
        </p:nvSpPr>
        <p:spPr>
          <a:xfrm>
            <a:off x="6065325" y="1260913"/>
            <a:ext cx="2717100" cy="491700"/>
          </a:xfrm>
          <a:prstGeom prst="roundRect">
            <a:avLst>
              <a:gd fmla="val 16667" name="adj"/>
            </a:avLst>
          </a:prstGeom>
          <a:solidFill>
            <a:srgbClr val="FF5101"/>
          </a:solidFill>
          <a:ln>
            <a:noFill/>
          </a:ln>
        </p:spPr>
        <p:txBody>
          <a:bodyPr anchorCtr="0" anchor="ctr" bIns="97225" lIns="97225" spcFirstLastPara="1" rIns="97225" wrap="square" tIns="9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489">
                <a:solidFill>
                  <a:schemeClr val="lt1"/>
                </a:solidFill>
              </a:rPr>
              <a:t>EvalAgent</a:t>
            </a:r>
            <a:endParaRPr sz="1914">
              <a:solidFill>
                <a:schemeClr val="lt1"/>
              </a:solidFill>
            </a:endParaRPr>
          </a:p>
        </p:txBody>
      </p:sp>
      <p:sp>
        <p:nvSpPr>
          <p:cNvPr id="212" name="Google Shape;212;p25"/>
          <p:cNvSpPr/>
          <p:nvPr/>
        </p:nvSpPr>
        <p:spPr>
          <a:xfrm>
            <a:off x="6065325" y="1818618"/>
            <a:ext cx="2717100" cy="1138800"/>
          </a:xfrm>
          <a:prstGeom prst="roundRect">
            <a:avLst>
              <a:gd fmla="val 16667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97225" lIns="97225" spcFirstLastPara="1" rIns="97225" wrap="square" tIns="97225">
            <a:noAutofit/>
          </a:bodyPr>
          <a:lstStyle/>
          <a:p>
            <a:pPr indent="-297161" lvl="0" marL="486264" rtl="0" algn="l">
              <a:lnSpc>
                <a:spcPct val="135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851"/>
              <a:buChar char="●"/>
            </a:pPr>
            <a:r>
              <a:rPr lang="ru" sz="851">
                <a:solidFill>
                  <a:schemeClr val="dk1"/>
                </a:solidFill>
              </a:rPr>
              <a:t>Роль: «Senior Reviewer ACL/NeurIPS»</a:t>
            </a:r>
            <a:endParaRPr sz="851">
              <a:solidFill>
                <a:schemeClr val="dk1"/>
              </a:solidFill>
            </a:endParaRPr>
          </a:p>
          <a:p>
            <a:pPr indent="-297161" lvl="0" marL="4862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1"/>
              <a:buChar char="●"/>
            </a:pPr>
            <a:r>
              <a:rPr lang="ru" sz="851">
                <a:solidFill>
                  <a:schemeClr val="dk1"/>
                </a:solidFill>
              </a:rPr>
              <a:t>Структурированный вывод: </a:t>
            </a:r>
            <a:r>
              <a:rPr lang="ru" sz="85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with_structured_output(PaperReview)</a:t>
            </a:r>
            <a:endParaRPr sz="85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7161" lvl="0" marL="486264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1"/>
              <a:buChar char="●"/>
            </a:pPr>
            <a:r>
              <a:rPr lang="ru" sz="851">
                <a:solidFill>
                  <a:schemeClr val="dk1"/>
                </a:solidFill>
              </a:rPr>
              <a:t>Оценки: новизна · строгость · влияние (1–5)</a:t>
            </a:r>
            <a:endParaRPr sz="851">
              <a:solidFill>
                <a:schemeClr val="dk1"/>
              </a:solidFill>
            </a:endParaRPr>
          </a:p>
          <a:p>
            <a:pPr indent="-297161" lvl="0" marL="486264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1"/>
              <a:buChar char="●"/>
            </a:pPr>
            <a:r>
              <a:rPr lang="ru" sz="851">
                <a:solidFill>
                  <a:schemeClr val="dk1"/>
                </a:solidFill>
              </a:rPr>
              <a:t>Pros / Cons / Reasoning</a:t>
            </a:r>
            <a:endParaRPr sz="851">
              <a:solidFill>
                <a:schemeClr val="dk1"/>
              </a:solidFill>
            </a:endParaRPr>
          </a:p>
        </p:txBody>
      </p:sp>
      <p:sp>
        <p:nvSpPr>
          <p:cNvPr id="213" name="Google Shape;213;p25"/>
          <p:cNvSpPr/>
          <p:nvPr/>
        </p:nvSpPr>
        <p:spPr>
          <a:xfrm>
            <a:off x="476300" y="3215100"/>
            <a:ext cx="2544600" cy="462300"/>
          </a:xfrm>
          <a:prstGeom prst="roundRect">
            <a:avLst>
              <a:gd fmla="val 16667" name="adj"/>
            </a:avLst>
          </a:prstGeom>
          <a:solidFill>
            <a:srgbClr val="FF510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</a:rPr>
              <a:t>WriterAgent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14" name="Google Shape;214;p25"/>
          <p:cNvSpPr/>
          <p:nvPr/>
        </p:nvSpPr>
        <p:spPr>
          <a:xfrm>
            <a:off x="476300" y="3739475"/>
            <a:ext cx="2544600" cy="1070700"/>
          </a:xfrm>
          <a:prstGeom prst="roundRect">
            <a:avLst>
              <a:gd fmla="val 16667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7940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ru" sz="800">
                <a:solidFill>
                  <a:schemeClr val="dk1"/>
                </a:solidFill>
              </a:rPr>
              <a:t>Обзор на русском языке (Markdown)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ru" sz="800">
                <a:solidFill>
                  <a:schemeClr val="dk1"/>
                </a:solidFill>
              </a:rPr>
              <a:t>6 секций: резюме → методы → результаты → критика → применение → вердикт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ru" sz="800">
                <a:solidFill>
                  <a:schemeClr val="dk1"/>
                </a:solidFill>
              </a:rPr>
              <a:t>Доступ к Tavily Search для контекста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ru" sz="800">
                <a:solidFill>
                  <a:schemeClr val="dk1"/>
                </a:solidFill>
              </a:rPr>
              <a:t>Генерация теста (5 вопросов)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15" name="Google Shape;215;p25"/>
          <p:cNvSpPr/>
          <p:nvPr/>
        </p:nvSpPr>
        <p:spPr>
          <a:xfrm>
            <a:off x="4853050" y="3215100"/>
            <a:ext cx="2355600" cy="462300"/>
          </a:xfrm>
          <a:prstGeom prst="roundRect">
            <a:avLst>
              <a:gd fmla="val 16667" name="adj"/>
            </a:avLst>
          </a:prstGeom>
          <a:solidFill>
            <a:srgbClr val="FF510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</a:rPr>
              <a:t>DescribeAgent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16" name="Google Shape;216;p25"/>
          <p:cNvSpPr/>
          <p:nvPr/>
        </p:nvSpPr>
        <p:spPr>
          <a:xfrm>
            <a:off x="4853050" y="3739475"/>
            <a:ext cx="2355600" cy="1070700"/>
          </a:xfrm>
          <a:prstGeom prst="roundRect">
            <a:avLst>
              <a:gd fmla="val 16667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7940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ru" sz="800">
                <a:solidFill>
                  <a:schemeClr val="dk1"/>
                </a:solidFill>
              </a:rPr>
              <a:t>Vision-анализ изображений из статьи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ru" sz="800">
                <a:solidFill>
                  <a:schemeClr val="dk1"/>
                </a:solidFill>
              </a:rPr>
              <a:t>Описания включаются в контекст EvalAgent и WriterAgent</a:t>
            </a: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"/>
          <p:cNvSpPr/>
          <p:nvPr/>
        </p:nvSpPr>
        <p:spPr>
          <a:xfrm>
            <a:off x="320488" y="283813"/>
            <a:ext cx="8510700" cy="719400"/>
          </a:xfrm>
          <a:prstGeom prst="roundRect">
            <a:avLst>
              <a:gd fmla="val 0" name="adj"/>
            </a:avLst>
          </a:prstGeom>
          <a:solidFill>
            <a:srgbClr val="FF510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 txBox="1"/>
          <p:nvPr/>
        </p:nvSpPr>
        <p:spPr>
          <a:xfrm>
            <a:off x="476293" y="377828"/>
            <a:ext cx="5795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" sz="3300">
                <a:solidFill>
                  <a:schemeClr val="lt1"/>
                </a:solidFill>
              </a:rPr>
              <a:t>Инструменты агентов</a:t>
            </a:r>
            <a:endParaRPr b="0" i="0" sz="3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3" name="Google Shape;223;p26"/>
          <p:cNvGraphicFramePr/>
          <p:nvPr/>
        </p:nvGraphicFramePr>
        <p:xfrm>
          <a:off x="320500" y="104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{F7D53650-36EF-4817-BCBE-1E9D29DC49A3}</a:tableStyleId>
              </a:tblPr>
              <a:tblGrid>
                <a:gridCol w="1936675"/>
                <a:gridCol w="1769350"/>
                <a:gridCol w="4196200"/>
              </a:tblGrid>
              <a:tr h="447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00">
                          <a:solidFill>
                            <a:schemeClr val="lt1"/>
                          </a:solidFill>
                        </a:rPr>
                        <a:t>Инструмент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51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00">
                          <a:solidFill>
                            <a:schemeClr val="lt1"/>
                          </a:solidFill>
                        </a:rPr>
                        <a:t>Технология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51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00">
                          <a:solidFill>
                            <a:schemeClr val="lt1"/>
                          </a:solidFill>
                        </a:rPr>
                        <a:t>Назначение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5101"/>
                    </a:solidFill>
                  </a:tcPr>
                </a:tc>
              </a:tr>
              <a:tr h="447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8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search_arxiv_papers</a:t>
                      </a:r>
                      <a:endParaRPr sz="8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8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arxiv-py</a:t>
                      </a:r>
                      <a:endParaRPr sz="8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Поиск с фильтрами по дате, сортировке, title-only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47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8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download_arxiv_paper</a:t>
                      </a:r>
                      <a:endParaRPr sz="8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8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arxiv-py</a:t>
                      </a:r>
                      <a:endParaRPr sz="8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Скачивание PDF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47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8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download_arxiv_tex</a:t>
                      </a:r>
                      <a:endParaRPr sz="8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8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requests</a:t>
                      </a:r>
                      <a:r>
                        <a:rPr lang="ru" sz="1000">
                          <a:solidFill>
                            <a:schemeClr val="dk1"/>
                          </a:solidFill>
                        </a:rPr>
                        <a:t> + </a:t>
                      </a:r>
                      <a:r>
                        <a:rPr lang="ru" sz="8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tarfile</a:t>
                      </a:r>
                      <a:endParaRPr sz="8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Распаковка LaTeX-архива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47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8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parse_tex_file</a:t>
                      </a:r>
                      <a:endParaRPr sz="8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stdlib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Извлечение текста из </a:t>
                      </a:r>
                      <a:r>
                        <a:rPr lang="ru" sz="8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.tex</a:t>
                      </a:r>
                      <a:r>
                        <a:rPr lang="ru" sz="1000">
                          <a:solidFill>
                            <a:schemeClr val="dk1"/>
                          </a:solidFill>
                        </a:rPr>
                        <a:t> (приоритет над PDF)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47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8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parse_pdf_file</a:t>
                      </a:r>
                      <a:endParaRPr sz="8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8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pymupdf4llm</a:t>
                      </a:r>
                      <a:endParaRPr sz="8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Конвертация PDF → Markdown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47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8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parse_img_from_pdf</a:t>
                      </a:r>
                      <a:endParaRPr sz="8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8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PyMuPDF (fitz)</a:t>
                      </a:r>
                      <a:endParaRPr sz="8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Извлечение изображений постранично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B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510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7"/>
          <p:cNvSpPr txBox="1"/>
          <p:nvPr/>
        </p:nvSpPr>
        <p:spPr>
          <a:xfrm flipH="1">
            <a:off x="179955" y="251676"/>
            <a:ext cx="8511000" cy="16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0"/>
              <a:buFont typeface="Arial"/>
              <a:buNone/>
            </a:pPr>
            <a:r>
              <a:rPr b="0" i="0" lang="ru" sz="6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Спасибо </a:t>
            </a:r>
            <a:br>
              <a:rPr b="0" i="0" lang="ru" sz="6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" sz="6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за внимание!</a:t>
            </a:r>
            <a:endParaRPr b="0" i="0" sz="6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